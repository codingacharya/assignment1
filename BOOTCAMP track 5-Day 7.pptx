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4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22B5A-764F-4AD9-960A-89764FB36D9A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E9E47-A9C5-44DA-9CC7-EE6C99EBAF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99268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22B5A-764F-4AD9-960A-89764FB36D9A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E9E47-A9C5-44DA-9CC7-EE6C99EBAF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71566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22B5A-764F-4AD9-960A-89764FB36D9A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E9E47-A9C5-44DA-9CC7-EE6C99EBAF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37987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22B5A-764F-4AD9-960A-89764FB36D9A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E9E47-A9C5-44DA-9CC7-EE6C99EBAF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1556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22B5A-764F-4AD9-960A-89764FB36D9A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E9E47-A9C5-44DA-9CC7-EE6C99EBAF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33489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22B5A-764F-4AD9-960A-89764FB36D9A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E9E47-A9C5-44DA-9CC7-EE6C99EBAF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02933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22B5A-764F-4AD9-960A-89764FB36D9A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E9E47-A9C5-44DA-9CC7-EE6C99EBAF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3894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22B5A-764F-4AD9-960A-89764FB36D9A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E9E47-A9C5-44DA-9CC7-EE6C99EBAF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80131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22B5A-764F-4AD9-960A-89764FB36D9A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E9E47-A9C5-44DA-9CC7-EE6C99EBAF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59730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22B5A-764F-4AD9-960A-89764FB36D9A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E9E47-A9C5-44DA-9CC7-EE6C99EBAF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30112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22B5A-764F-4AD9-960A-89764FB36D9A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E9E47-A9C5-44DA-9CC7-EE6C99EBAF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7014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422B5A-764F-4AD9-960A-89764FB36D9A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CE9E47-A9C5-44DA-9CC7-EE6C99EBAF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5286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odingacharya/assignment7.git" TargetMode="External"/><Relationship Id="rId2" Type="http://schemas.openxmlformats.org/officeDocument/2006/relationships/hyperlink" Target="https://ollama.com/download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BOOTCAMP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ACE ENGINEERING COLLEGE</a:t>
            </a:r>
          </a:p>
          <a:p>
            <a:r>
              <a:rPr lang="en-US" dirty="0" smtClean="0"/>
              <a:t>TOPIC : DATA INTELLIGENCE AND AI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513298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Day 7: Introduction to Generative AI &amp; Large Language Models (LLMs)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 smtClean="0"/>
              <a:t>1. The Basics of Generative AI</a:t>
            </a:r>
          </a:p>
          <a:p>
            <a:pPr marL="0" indent="0">
              <a:buNone/>
            </a:pPr>
            <a:r>
              <a:rPr lang="en-US" b="1" dirty="0" smtClean="0"/>
              <a:t>What is Generative AI?</a:t>
            </a:r>
          </a:p>
          <a:p>
            <a:pPr marL="0" indent="0">
              <a:buNone/>
            </a:pPr>
            <a:r>
              <a:rPr lang="en-US" dirty="0" smtClean="0"/>
              <a:t>	Generative AI (</a:t>
            </a:r>
            <a:r>
              <a:rPr lang="en-US" dirty="0" err="1" smtClean="0"/>
              <a:t>GenAI</a:t>
            </a:r>
            <a:r>
              <a:rPr lang="en-US" dirty="0" smtClean="0"/>
              <a:t>) refers to artificial intelligence 	systems that can create new content such as: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Text (articles, stories, emails) </a:t>
            </a:r>
          </a:p>
          <a:p>
            <a:r>
              <a:rPr lang="en-US" dirty="0" smtClean="0"/>
              <a:t>Code (Python, Java, JavaScript) </a:t>
            </a:r>
          </a:p>
          <a:p>
            <a:r>
              <a:rPr lang="en-US" dirty="0" smtClean="0"/>
              <a:t>Images (artwork, designs) </a:t>
            </a:r>
          </a:p>
          <a:p>
            <a:r>
              <a:rPr lang="en-US" dirty="0" smtClean="0"/>
              <a:t>Audio and music </a:t>
            </a:r>
          </a:p>
          <a:p>
            <a:r>
              <a:rPr lang="en-US" dirty="0" smtClean="0"/>
              <a:t>Videos 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Unlike traditional AI systems that only classify or predict 	outcomes, Generative AI produces entirely new outputs based 	on patterns learned from large datasets.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296955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How Does Generative AI Work?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smtClean="0"/>
              <a:t>During training, the model analyzes massive amounts of data and learns: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Grammar and language structures </a:t>
            </a:r>
          </a:p>
          <a:p>
            <a:r>
              <a:rPr lang="en-US" dirty="0" smtClean="0"/>
              <a:t>Programming syntax </a:t>
            </a:r>
          </a:p>
          <a:p>
            <a:r>
              <a:rPr lang="en-US" dirty="0" smtClean="0"/>
              <a:t>Image patterns and shapes </a:t>
            </a:r>
          </a:p>
          <a:p>
            <a:r>
              <a:rPr lang="en-US" dirty="0" smtClean="0"/>
              <a:t>Relationships between words and concepts 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When given a prompt, the model generates content by predicting what should come next based on its learned patterns.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4896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Example</a:t>
            </a:r>
            <a:br>
              <a:rPr lang="en-US" b="1" dirty="0" smtClean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Prompt: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Write a short poem about nature.</a:t>
            </a:r>
          </a:p>
          <a:p>
            <a:pPr marL="0" indent="0">
              <a:buNone/>
            </a:pPr>
            <a:endParaRPr lang="en-US" b="1" dirty="0" smtClean="0"/>
          </a:p>
          <a:p>
            <a:pPr marL="0" indent="0">
              <a:buNone/>
            </a:pPr>
            <a:r>
              <a:rPr lang="en-US" b="1" dirty="0" smtClean="0"/>
              <a:t>Generated Output: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The gentle breeze whispers low,</a:t>
            </a:r>
            <a:br>
              <a:rPr lang="en-US" dirty="0" smtClean="0"/>
            </a:br>
            <a:r>
              <a:rPr lang="en-US" dirty="0" smtClean="0"/>
              <a:t>Through fields where golden flowers grow,</a:t>
            </a:r>
            <a:br>
              <a:rPr lang="en-US" dirty="0" smtClean="0"/>
            </a:br>
            <a:r>
              <a:rPr lang="en-US" dirty="0" smtClean="0"/>
              <a:t>Beneath the sky so vast and blue,</a:t>
            </a:r>
            <a:br>
              <a:rPr lang="en-US" dirty="0" smtClean="0"/>
            </a:br>
            <a:r>
              <a:rPr lang="en-US" dirty="0" smtClean="0"/>
              <a:t>Nature paints a perfect view.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695476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2. What is a Large Language Model (LLM)?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 smtClean="0"/>
              <a:t>Definition</a:t>
            </a:r>
          </a:p>
          <a:p>
            <a:pPr marL="0" indent="0">
              <a:buNone/>
            </a:pPr>
            <a:r>
              <a:rPr lang="en-US" dirty="0" smtClean="0"/>
              <a:t>A Large Language Model (LLM) is a deep learning model trained on enormous amounts of text data to understand and generate human-like language.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Popular LLMs include:</a:t>
            </a:r>
          </a:p>
          <a:p>
            <a:r>
              <a:rPr lang="en-US" dirty="0" smtClean="0"/>
              <a:t>GPT-4 </a:t>
            </a:r>
          </a:p>
          <a:p>
            <a:r>
              <a:rPr lang="en-US" dirty="0" smtClean="0"/>
              <a:t>Gemini </a:t>
            </a:r>
          </a:p>
          <a:p>
            <a:r>
              <a:rPr lang="en-US" dirty="0" smtClean="0"/>
              <a:t>Claude </a:t>
            </a:r>
          </a:p>
          <a:p>
            <a:r>
              <a:rPr lang="en-US" dirty="0" smtClean="0"/>
              <a:t>Llama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58679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How Does an LLM Work?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An LLM predicts the most probable next word (or token) in a sequence.</a:t>
            </a:r>
          </a:p>
          <a:p>
            <a:r>
              <a:rPr lang="en-US" dirty="0" smtClean="0"/>
              <a:t>Example:</a:t>
            </a:r>
          </a:p>
          <a:p>
            <a:r>
              <a:rPr lang="en-US" dirty="0" smtClean="0"/>
              <a:t>Input:</a:t>
            </a:r>
          </a:p>
          <a:p>
            <a:r>
              <a:rPr lang="en-US" dirty="0" smtClean="0"/>
              <a:t>The sun rises in the _____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25685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Possible predictions</a:t>
            </a: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40838424"/>
              </p:ext>
            </p:extLst>
          </p:nvPr>
        </p:nvGraphicFramePr>
        <p:xfrm>
          <a:off x="457200" y="1600200"/>
          <a:ext cx="8229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Word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Probability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east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95%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west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3%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north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1%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south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1%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2195736" y="4221088"/>
            <a:ext cx="45960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The model selects the most likely continuation.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44214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Another Example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 smtClean="0"/>
              <a:t>Input:</a:t>
            </a:r>
          </a:p>
          <a:p>
            <a:pPr marL="0" indent="0">
              <a:buNone/>
            </a:pPr>
            <a:endParaRPr lang="en-US" b="1" dirty="0" smtClean="0"/>
          </a:p>
          <a:p>
            <a:pPr marL="0" indent="0">
              <a:buNone/>
            </a:pPr>
            <a:r>
              <a:rPr lang="en-US" b="1" dirty="0" smtClean="0"/>
              <a:t>Artificial Intelligence is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Prediction sequence:</a:t>
            </a:r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Artificial Intelligence is</a:t>
            </a:r>
          </a:p>
          <a:p>
            <a:pPr marL="0" indent="0">
              <a:buNone/>
            </a:pP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→ transforming</a:t>
            </a:r>
            <a:br>
              <a:rPr lang="en-US" dirty="0" smtClean="0"/>
            </a:br>
            <a:r>
              <a:rPr lang="en-US" dirty="0" smtClean="0"/>
              <a:t>→ the</a:t>
            </a:r>
            <a:br>
              <a:rPr lang="en-US" dirty="0" smtClean="0"/>
            </a:br>
            <a:r>
              <a:rPr lang="en-US" dirty="0" smtClean="0"/>
              <a:t>→ world</a:t>
            </a:r>
            <a:br>
              <a:rPr lang="en-US" dirty="0" smtClean="0"/>
            </a:br>
            <a:r>
              <a:rPr lang="en-US" dirty="0" smtClean="0"/>
              <a:t>→ through</a:t>
            </a:r>
            <a:br>
              <a:rPr lang="en-US" dirty="0" smtClean="0"/>
            </a:br>
            <a:r>
              <a:rPr lang="en-US" dirty="0" smtClean="0"/>
              <a:t>→ automation.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The model generates text one token at a time.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15829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3. Understanding Tokens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 smtClean="0"/>
              <a:t>LLMs do not process words directly.</a:t>
            </a:r>
          </a:p>
          <a:p>
            <a:pPr marL="0" indent="0">
              <a:buNone/>
            </a:pPr>
            <a:r>
              <a:rPr lang="en-US" dirty="0" smtClean="0"/>
              <a:t>Instead, they process </a:t>
            </a:r>
            <a:r>
              <a:rPr lang="en-US" b="1" dirty="0" smtClean="0"/>
              <a:t>tokens</a:t>
            </a:r>
            <a:r>
              <a:rPr lang="en-US" dirty="0" smtClean="0"/>
              <a:t>, which may be: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A word </a:t>
            </a:r>
          </a:p>
          <a:p>
            <a:r>
              <a:rPr lang="en-US" dirty="0" smtClean="0"/>
              <a:t>Part of a word </a:t>
            </a:r>
          </a:p>
          <a:p>
            <a:r>
              <a:rPr lang="en-US" dirty="0" smtClean="0"/>
              <a:t>A punctuation mark </a:t>
            </a:r>
          </a:p>
          <a:p>
            <a:endParaRPr lang="en-US" dirty="0" smtClean="0"/>
          </a:p>
          <a:p>
            <a:pPr marL="0" indent="0">
              <a:buNone/>
            </a:pPr>
            <a:r>
              <a:rPr lang="en-US" b="1" dirty="0" smtClean="0"/>
              <a:t>Example:</a:t>
            </a:r>
          </a:p>
          <a:p>
            <a:pPr marL="0" indent="0">
              <a:buNone/>
            </a:pPr>
            <a:endParaRPr lang="en-US" b="1" dirty="0" smtClean="0"/>
          </a:p>
          <a:p>
            <a:pPr marL="0" indent="0">
              <a:buNone/>
            </a:pPr>
            <a:r>
              <a:rPr lang="en-US" dirty="0" smtClean="0"/>
              <a:t>Machine Learning is amazing!</a:t>
            </a:r>
          </a:p>
          <a:p>
            <a:pPr marL="0" indent="0">
              <a:buNone/>
            </a:pPr>
            <a:r>
              <a:rPr lang="en-US" dirty="0" smtClean="0"/>
              <a:t>Might become: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["Machine", "Learning", "is", "amazing", "!"]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The model predicts the next token repeatedly until the response is complete.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654886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4. The Core API Connection Layout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 smtClean="0"/>
              <a:t>Most modern LLMs are accessed through APIs.</a:t>
            </a:r>
          </a:p>
          <a:p>
            <a:pPr marL="0" indent="0">
              <a:buNone/>
            </a:pPr>
            <a:endParaRPr lang="en-US" b="1" dirty="0" smtClean="0"/>
          </a:p>
          <a:p>
            <a:pPr marL="0" indent="0">
              <a:buNone/>
            </a:pPr>
            <a:r>
              <a:rPr lang="en-US" b="1" dirty="0" smtClean="0"/>
              <a:t>Step 1: Obtain an API Key</a:t>
            </a:r>
          </a:p>
          <a:p>
            <a:pPr marL="0" indent="0">
              <a:buNone/>
            </a:pPr>
            <a:r>
              <a:rPr lang="en-US" dirty="0" smtClean="0"/>
              <a:t>Create an account with an AI provider and generate an API key.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Example: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API_KEY = "</a:t>
            </a:r>
            <a:r>
              <a:rPr lang="en-US" dirty="0" err="1" smtClean="0"/>
              <a:t>your_api_key_here</a:t>
            </a:r>
            <a:r>
              <a:rPr lang="en-US" dirty="0" smtClean="0"/>
              <a:t>"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579593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Step 2: Install Required Library</a:t>
            </a:r>
          </a:p>
          <a:p>
            <a:pPr marL="0" indent="0">
              <a:buNone/>
            </a:pPr>
            <a:r>
              <a:rPr lang="en-US" dirty="0" smtClean="0"/>
              <a:t>For Python: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pip install requests</a:t>
            </a:r>
          </a:p>
          <a:p>
            <a:pPr marL="0" indent="0">
              <a:buNone/>
            </a:pPr>
            <a:r>
              <a:rPr lang="en-US" dirty="0" smtClean="0"/>
              <a:t>Pip install </a:t>
            </a:r>
            <a:r>
              <a:rPr lang="en-US" dirty="0" err="1" smtClean="0"/>
              <a:t>yfinance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Pip install kite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370529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 3: Send a Request to the LLM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1760" y="1224126"/>
            <a:ext cx="4464495" cy="5454048"/>
          </a:xfrm>
        </p:spPr>
      </p:pic>
    </p:spTree>
    <p:extLst>
      <p:ext uri="{BB962C8B-B14F-4D97-AF65-F5344CB8AC3E}">
        <p14:creationId xmlns:p14="http://schemas.microsoft.com/office/powerpoint/2010/main" val="17093355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 smtClean="0"/>
              <a:t>5. Typical API Workflow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IN" dirty="0" smtClean="0"/>
              <a:t>User Prompt</a:t>
            </a:r>
            <a:br>
              <a:rPr lang="en-IN" dirty="0" smtClean="0"/>
            </a:br>
            <a:r>
              <a:rPr lang="en-IN" dirty="0" smtClean="0"/>
              <a:t>↓</a:t>
            </a:r>
            <a:br>
              <a:rPr lang="en-IN" dirty="0" smtClean="0"/>
            </a:br>
            <a:r>
              <a:rPr lang="en-IN" dirty="0" smtClean="0"/>
              <a:t>Python Script</a:t>
            </a:r>
            <a:br>
              <a:rPr lang="en-IN" dirty="0" smtClean="0"/>
            </a:br>
            <a:r>
              <a:rPr lang="en-IN" dirty="0" smtClean="0"/>
              <a:t>↓</a:t>
            </a:r>
            <a:br>
              <a:rPr lang="en-IN" dirty="0" smtClean="0"/>
            </a:br>
            <a:r>
              <a:rPr lang="en-IN" dirty="0" smtClean="0"/>
              <a:t>API Request</a:t>
            </a:r>
            <a:br>
              <a:rPr lang="en-IN" dirty="0" smtClean="0"/>
            </a:br>
            <a:r>
              <a:rPr lang="en-IN" dirty="0" smtClean="0"/>
              <a:t>↓</a:t>
            </a:r>
            <a:br>
              <a:rPr lang="en-IN" dirty="0" smtClean="0"/>
            </a:br>
            <a:r>
              <a:rPr lang="en-IN" dirty="0" smtClean="0"/>
              <a:t>Cloud LLM Server</a:t>
            </a:r>
            <a:br>
              <a:rPr lang="en-IN" dirty="0" smtClean="0"/>
            </a:br>
            <a:r>
              <a:rPr lang="en-IN" dirty="0" smtClean="0"/>
              <a:t>↓</a:t>
            </a:r>
            <a:br>
              <a:rPr lang="en-IN" dirty="0" smtClean="0"/>
            </a:br>
            <a:r>
              <a:rPr lang="en-IN" dirty="0" smtClean="0"/>
              <a:t>Generated Response</a:t>
            </a:r>
            <a:br>
              <a:rPr lang="en-IN" dirty="0" smtClean="0"/>
            </a:br>
            <a:r>
              <a:rPr lang="en-IN" dirty="0" smtClean="0"/>
              <a:t>↓</a:t>
            </a:r>
            <a:br>
              <a:rPr lang="en-IN" dirty="0" smtClean="0"/>
            </a:br>
            <a:r>
              <a:rPr lang="en-IN" dirty="0" smtClean="0"/>
              <a:t>Python Application</a:t>
            </a:r>
            <a:br>
              <a:rPr lang="en-IN" dirty="0" smtClean="0"/>
            </a:br>
            <a:r>
              <a:rPr lang="en-IN" dirty="0" smtClean="0"/>
              <a:t>↓</a:t>
            </a:r>
            <a:br>
              <a:rPr lang="en-IN" dirty="0" smtClean="0"/>
            </a:br>
            <a:r>
              <a:rPr lang="en-IN" dirty="0" smtClean="0"/>
              <a:t>Display Result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211029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 smtClean="0"/>
              <a:t>6. Example JSON Response</a:t>
            </a:r>
            <a:br>
              <a:rPr lang="en-IN" b="1" dirty="0" smtClean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 smtClean="0"/>
              <a:t>A cloud-hosted LLM often returns data in JSON format:</a:t>
            </a:r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{</a:t>
            </a:r>
            <a:br>
              <a:rPr lang="en-IN" dirty="0" smtClean="0"/>
            </a:br>
            <a:r>
              <a:rPr lang="en-IN" dirty="0" smtClean="0"/>
              <a:t>"id": "chatcmpl_123",</a:t>
            </a:r>
            <a:br>
              <a:rPr lang="en-IN" dirty="0" smtClean="0"/>
            </a:br>
            <a:r>
              <a:rPr lang="en-IN" dirty="0" smtClean="0"/>
              <a:t>"object": "</a:t>
            </a:r>
            <a:r>
              <a:rPr lang="en-IN" dirty="0" err="1" smtClean="0"/>
              <a:t>chat.completion</a:t>
            </a:r>
            <a:r>
              <a:rPr lang="en-IN" dirty="0" smtClean="0"/>
              <a:t>",</a:t>
            </a:r>
            <a:br>
              <a:rPr lang="en-IN" dirty="0" smtClean="0"/>
            </a:br>
            <a:r>
              <a:rPr lang="en-IN" dirty="0" smtClean="0"/>
              <a:t>"choices": [</a:t>
            </a:r>
            <a:br>
              <a:rPr lang="en-IN" dirty="0" smtClean="0"/>
            </a:br>
            <a:r>
              <a:rPr lang="en-IN" dirty="0" smtClean="0"/>
              <a:t>{</a:t>
            </a:r>
            <a:br>
              <a:rPr lang="en-IN" dirty="0" smtClean="0"/>
            </a:br>
            <a:r>
              <a:rPr lang="en-IN" dirty="0" smtClean="0">
                <a:solidFill>
                  <a:srgbClr val="FF0000"/>
                </a:solidFill>
              </a:rPr>
              <a:t>"message": {</a:t>
            </a:r>
            <a:br>
              <a:rPr lang="en-IN" dirty="0" smtClean="0">
                <a:solidFill>
                  <a:srgbClr val="FF0000"/>
                </a:solidFill>
              </a:rPr>
            </a:br>
            <a:r>
              <a:rPr lang="en-IN" dirty="0" smtClean="0">
                <a:solidFill>
                  <a:srgbClr val="FF0000"/>
                </a:solidFill>
              </a:rPr>
              <a:t>"role": "assistant",</a:t>
            </a:r>
            <a:br>
              <a:rPr lang="en-IN" dirty="0" smtClean="0">
                <a:solidFill>
                  <a:srgbClr val="FF0000"/>
                </a:solidFill>
              </a:rPr>
            </a:br>
            <a:r>
              <a:rPr lang="en-IN" dirty="0" smtClean="0">
                <a:solidFill>
                  <a:srgbClr val="FF0000"/>
                </a:solidFill>
              </a:rPr>
              <a:t>"content": "Machine learning enables computers to learn from data."</a:t>
            </a:r>
            <a:r>
              <a:rPr lang="en-IN" dirty="0" smtClean="0"/>
              <a:t/>
            </a:r>
            <a:br>
              <a:rPr lang="en-IN" dirty="0" smtClean="0"/>
            </a:br>
            <a:r>
              <a:rPr lang="en-IN" dirty="0" smtClean="0"/>
              <a:t>}</a:t>
            </a:r>
            <a:br>
              <a:rPr lang="en-IN" dirty="0" smtClean="0"/>
            </a:br>
            <a:r>
              <a:rPr lang="en-IN" dirty="0" smtClean="0"/>
              <a:t>}</a:t>
            </a:r>
            <a:br>
              <a:rPr lang="en-IN" dirty="0" smtClean="0"/>
            </a:br>
            <a:r>
              <a:rPr lang="en-IN" dirty="0" smtClean="0"/>
              <a:t>]</a:t>
            </a:r>
            <a:br>
              <a:rPr lang="en-IN" dirty="0" smtClean="0"/>
            </a:br>
            <a:r>
              <a:rPr lang="en-IN" dirty="0" smtClean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669351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7. Handling Text Payload Outputs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 smtClean="0"/>
              <a:t>Accessing the Output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The generated text is usually nested inside multiple JSON levels.</a:t>
            </a:r>
          </a:p>
          <a:p>
            <a:endParaRPr lang="en-US" dirty="0" smtClean="0"/>
          </a:p>
          <a:p>
            <a:pPr marL="0" indent="0">
              <a:buNone/>
            </a:pPr>
            <a:r>
              <a:rPr lang="en-US" sz="2400" dirty="0" smtClean="0"/>
              <a:t>data = </a:t>
            </a:r>
            <a:r>
              <a:rPr lang="en-US" sz="2400" dirty="0" err="1" smtClean="0"/>
              <a:t>response.json</a:t>
            </a:r>
            <a:r>
              <a:rPr lang="en-US" sz="2400" dirty="0" smtClean="0"/>
              <a:t>()</a:t>
            </a:r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r>
              <a:rPr lang="en-US" sz="2400" dirty="0" err="1" smtClean="0"/>
              <a:t>generated_text</a:t>
            </a:r>
            <a:r>
              <a:rPr lang="en-US" sz="2400" dirty="0" smtClean="0"/>
              <a:t> = data["choices"][0]["message"]["content"]</a:t>
            </a:r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print(</a:t>
            </a:r>
            <a:r>
              <a:rPr lang="en-US" sz="2400" dirty="0" err="1" smtClean="0"/>
              <a:t>generated_text</a:t>
            </a:r>
            <a:r>
              <a:rPr lang="en-US" sz="2400" dirty="0" smtClean="0"/>
              <a:t>)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Output:</a:t>
            </a:r>
          </a:p>
          <a:p>
            <a:pPr marL="0" indent="0">
              <a:buNone/>
            </a:pPr>
            <a:r>
              <a:rPr lang="en-US" dirty="0" smtClean="0"/>
              <a:t>Machine learning enables computers to learn from data.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005907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8. Safe JSON Extraction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Sometimes APIs return unexpected structures.</a:t>
            </a:r>
          </a:p>
          <a:p>
            <a:r>
              <a:rPr lang="en-US" dirty="0" smtClean="0"/>
              <a:t>Use .get() to avoid errors.</a:t>
            </a:r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2" y="2807599"/>
            <a:ext cx="4464496" cy="3693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4334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Key Takeaways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b="1" dirty="0" smtClean="0"/>
              <a:t>Generative AI</a:t>
            </a:r>
            <a:r>
              <a:rPr lang="en-US" dirty="0" smtClean="0"/>
              <a:t> creates new content such as text, images, and code. </a:t>
            </a:r>
          </a:p>
          <a:p>
            <a:r>
              <a:rPr lang="en-US" b="1" dirty="0" smtClean="0"/>
              <a:t>LLMs</a:t>
            </a:r>
            <a:r>
              <a:rPr lang="en-US" dirty="0" smtClean="0"/>
              <a:t> are trained on massive datasets and generate text by predicting the next token. </a:t>
            </a:r>
          </a:p>
          <a:p>
            <a:r>
              <a:rPr lang="en-US" dirty="0" smtClean="0"/>
              <a:t>Models such as GPT-4 and Gemini are examples of modern LLMs. </a:t>
            </a:r>
          </a:p>
          <a:p>
            <a:r>
              <a:rPr lang="en-US" dirty="0" smtClean="0"/>
              <a:t>API keys are required to access cloud-hosted LLM services. </a:t>
            </a:r>
          </a:p>
          <a:p>
            <a:r>
              <a:rPr lang="en-US" dirty="0" smtClean="0"/>
              <a:t>LLM interaction follows a request-response pattern using APIs. </a:t>
            </a:r>
          </a:p>
          <a:p>
            <a:r>
              <a:rPr lang="en-US" dirty="0" smtClean="0"/>
              <a:t>Responses are usually returned in </a:t>
            </a:r>
            <a:r>
              <a:rPr lang="en-US" b="1" dirty="0" smtClean="0"/>
              <a:t>JSON format</a:t>
            </a:r>
            <a:r>
              <a:rPr lang="en-US" dirty="0" smtClean="0"/>
              <a:t>. </a:t>
            </a:r>
          </a:p>
          <a:p>
            <a:r>
              <a:rPr lang="en-US" dirty="0" smtClean="0"/>
              <a:t>Extract text safely from nested JSON using indexing or .get() methods. 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b="1" dirty="0" smtClean="0"/>
              <a:t>Interview Question</a:t>
            </a:r>
          </a:p>
          <a:p>
            <a:r>
              <a:rPr lang="en-US" b="1" dirty="0" smtClean="0"/>
              <a:t>Q:</a:t>
            </a:r>
            <a:r>
              <a:rPr lang="en-US" dirty="0" smtClean="0"/>
              <a:t> Why is JSON parsing important when working with LLM APIs?</a:t>
            </a:r>
          </a:p>
          <a:p>
            <a:r>
              <a:rPr lang="en-US" b="1" dirty="0" smtClean="0"/>
              <a:t>A:</a:t>
            </a:r>
            <a:r>
              <a:rPr lang="en-US" dirty="0" smtClean="0"/>
              <a:t> Because LLM responses are returned as structured JSON objects, and developers must extract the generated text from nested fields before using it in applications.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34723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Assignment 7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IN" dirty="0" smtClean="0"/>
              <a:t>Before executing this project install </a:t>
            </a:r>
            <a:r>
              <a:rPr lang="en-IN" dirty="0" err="1" smtClean="0"/>
              <a:t>ollama</a:t>
            </a:r>
            <a:r>
              <a:rPr lang="en-IN" dirty="0" smtClean="0"/>
              <a:t> from this link</a:t>
            </a:r>
          </a:p>
          <a:p>
            <a:endParaRPr lang="en-IN" dirty="0" smtClean="0">
              <a:hlinkClick r:id="rId2"/>
            </a:endParaRPr>
          </a:p>
          <a:p>
            <a:r>
              <a:rPr lang="en-IN" dirty="0" smtClean="0">
                <a:hlinkClick r:id="rId2"/>
              </a:rPr>
              <a:t>https://ollama.com/download</a:t>
            </a:r>
            <a:endParaRPr lang="en-IN" dirty="0" smtClean="0"/>
          </a:p>
          <a:p>
            <a:endParaRPr lang="en-IN" dirty="0" smtClean="0"/>
          </a:p>
          <a:p>
            <a:r>
              <a:rPr lang="en-IN" sz="2300" dirty="0" smtClean="0"/>
              <a:t>git clone </a:t>
            </a:r>
            <a:r>
              <a:rPr lang="en-IN" sz="2300" dirty="0" smtClean="0">
                <a:hlinkClick r:id="rId3"/>
              </a:rPr>
              <a:t>https://github.com/codingacharya/assignment7.git</a:t>
            </a:r>
            <a:endParaRPr lang="en-IN" sz="2300" dirty="0" smtClean="0"/>
          </a:p>
          <a:p>
            <a:r>
              <a:rPr lang="en-IN" sz="2300" dirty="0" smtClean="0"/>
              <a:t>cd assignment7</a:t>
            </a:r>
          </a:p>
          <a:p>
            <a:r>
              <a:rPr lang="en-IN" sz="2300" dirty="0" smtClean="0"/>
              <a:t>python -m </a:t>
            </a:r>
            <a:r>
              <a:rPr lang="en-IN" sz="2300" dirty="0" err="1" smtClean="0"/>
              <a:t>venv</a:t>
            </a:r>
            <a:r>
              <a:rPr lang="en-IN" sz="2300" dirty="0" smtClean="0"/>
              <a:t> </a:t>
            </a:r>
            <a:r>
              <a:rPr lang="en-IN" sz="2300" dirty="0" err="1" smtClean="0"/>
              <a:t>venv</a:t>
            </a:r>
            <a:endParaRPr lang="en-IN" sz="2300" dirty="0" smtClean="0"/>
          </a:p>
          <a:p>
            <a:r>
              <a:rPr lang="en-IN" sz="2300" dirty="0" err="1" smtClean="0"/>
              <a:t>venv</a:t>
            </a:r>
            <a:r>
              <a:rPr lang="en-IN" sz="2300" dirty="0" smtClean="0"/>
              <a:t>\Scripts\activate</a:t>
            </a:r>
          </a:p>
          <a:p>
            <a:r>
              <a:rPr lang="en-IN" sz="2300" dirty="0" smtClean="0"/>
              <a:t>pip install -r requirements.txt</a:t>
            </a:r>
          </a:p>
          <a:p>
            <a:r>
              <a:rPr lang="en-IN" sz="2300" dirty="0" err="1" smtClean="0"/>
              <a:t>ollama</a:t>
            </a:r>
            <a:r>
              <a:rPr lang="en-IN" sz="2300" dirty="0" smtClean="0"/>
              <a:t> pull llama3</a:t>
            </a:r>
          </a:p>
          <a:p>
            <a:r>
              <a:rPr lang="en-IN" sz="2300" dirty="0" err="1" smtClean="0"/>
              <a:t>ollama</a:t>
            </a:r>
            <a:r>
              <a:rPr lang="en-IN" sz="2300" dirty="0" smtClean="0"/>
              <a:t> serve</a:t>
            </a:r>
          </a:p>
          <a:p>
            <a:r>
              <a:rPr lang="en-IN" sz="2300" dirty="0" err="1" smtClean="0"/>
              <a:t>streamlit</a:t>
            </a:r>
            <a:r>
              <a:rPr lang="en-IN" sz="2300" dirty="0" smtClean="0"/>
              <a:t> run app.py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15804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</TotalTime>
  <Words>618</Words>
  <Application>Microsoft Office PowerPoint</Application>
  <PresentationFormat>On-screen Show (4:3)</PresentationFormat>
  <Paragraphs>145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BOOTCAMP</vt:lpstr>
      <vt:lpstr>Day 7: Introduction to Generative AI &amp; Large Language Models (LLMs)</vt:lpstr>
      <vt:lpstr>How Does Generative AI Work?</vt:lpstr>
      <vt:lpstr>Example </vt:lpstr>
      <vt:lpstr>2. What is a Large Language Model (LLM)?</vt:lpstr>
      <vt:lpstr>How Does an LLM Work?</vt:lpstr>
      <vt:lpstr>Possible predictions</vt:lpstr>
      <vt:lpstr>Another Example</vt:lpstr>
      <vt:lpstr>3. Understanding Tokens</vt:lpstr>
      <vt:lpstr>4. The Core API Connection Layout</vt:lpstr>
      <vt:lpstr>PowerPoint Presentation</vt:lpstr>
      <vt:lpstr>Step 3: Send a Request to the LLM</vt:lpstr>
      <vt:lpstr>5. Typical API Workflow</vt:lpstr>
      <vt:lpstr>6. Example JSON Response </vt:lpstr>
      <vt:lpstr>7. Handling Text Payload Outputs</vt:lpstr>
      <vt:lpstr>8. Safe JSON Extraction</vt:lpstr>
      <vt:lpstr>Key Takeaways</vt:lpstr>
      <vt:lpstr>Assignment 7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BOOTCAMP</dc:title>
  <dc:creator>ACE</dc:creator>
  <cp:lastModifiedBy>ACE</cp:lastModifiedBy>
  <cp:revision>18</cp:revision>
  <dcterms:created xsi:type="dcterms:W3CDTF">2026-06-16T06:23:35Z</dcterms:created>
  <dcterms:modified xsi:type="dcterms:W3CDTF">2026-06-16T09:49:31Z</dcterms:modified>
</cp:coreProperties>
</file>