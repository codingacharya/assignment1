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19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4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16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6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85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24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13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64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0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DF7D1-744E-48A5-AF59-E9899116722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18F2-E667-4EF5-8495-8FDF71785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87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5: Core Concepts of Artificial Intelligence &amp; 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1. What is Artificial Intelligence (AI)?</a:t>
            </a:r>
          </a:p>
          <a:p>
            <a:pPr marL="0" indent="0">
              <a:buNone/>
            </a:pPr>
            <a:r>
              <a:rPr lang="en-US" dirty="0" smtClean="0"/>
              <a:t>Artificial Intelligence (AI) is the field of computer science that enables machines to perform tasks that typically require human intelligence, such as:</a:t>
            </a:r>
          </a:p>
          <a:p>
            <a:r>
              <a:rPr lang="en-US" dirty="0" smtClean="0"/>
              <a:t>Learning from data </a:t>
            </a:r>
          </a:p>
          <a:p>
            <a:r>
              <a:rPr lang="en-US" dirty="0" smtClean="0"/>
              <a:t>Problem-solving </a:t>
            </a:r>
          </a:p>
          <a:p>
            <a:r>
              <a:rPr lang="en-US" dirty="0" smtClean="0"/>
              <a:t>Decision-making </a:t>
            </a:r>
          </a:p>
          <a:p>
            <a:r>
              <a:rPr lang="en-US" dirty="0" smtClean="0"/>
              <a:t>Understanding language </a:t>
            </a:r>
          </a:p>
          <a:p>
            <a:r>
              <a:rPr lang="en-US" dirty="0" smtClean="0"/>
              <a:t>Recognizing images and speech </a:t>
            </a:r>
          </a:p>
          <a:p>
            <a:pPr marL="0" indent="0">
              <a:buNone/>
            </a:pPr>
            <a:r>
              <a:rPr lang="en-US" b="1" dirty="0" smtClean="0"/>
              <a:t>Examples of AI</a:t>
            </a:r>
          </a:p>
          <a:p>
            <a:r>
              <a:rPr lang="en-US" dirty="0" smtClean="0"/>
              <a:t>Voice assistants (</a:t>
            </a:r>
            <a:r>
              <a:rPr lang="en-US" dirty="0" err="1" smtClean="0"/>
              <a:t>Siri</a:t>
            </a:r>
            <a:r>
              <a:rPr lang="en-US" dirty="0" smtClean="0"/>
              <a:t>, Google Assistant) </a:t>
            </a:r>
          </a:p>
          <a:p>
            <a:r>
              <a:rPr lang="en-US" dirty="0" smtClean="0"/>
              <a:t>Self-driving cars </a:t>
            </a:r>
          </a:p>
          <a:p>
            <a:r>
              <a:rPr lang="en-US" dirty="0" smtClean="0"/>
              <a:t>Recommendation systems (Netflix, YouTube) </a:t>
            </a:r>
          </a:p>
          <a:p>
            <a:r>
              <a:rPr lang="en-US" dirty="0" err="1" smtClean="0"/>
              <a:t>Chatbots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28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2. What is Machine Learning (ML)?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Machine Learning is a subset of AI that allows computers to learn patterns from data and make predictions without being explicitly programmed for every rule.</a:t>
            </a:r>
          </a:p>
          <a:p>
            <a:r>
              <a:rPr lang="en-US" b="1" dirty="0" smtClean="0"/>
              <a:t>Traditional Programming (Hard-Coded Rules)</a:t>
            </a:r>
          </a:p>
          <a:p>
            <a:r>
              <a:rPr lang="en-US" b="1" dirty="0" smtClean="0"/>
              <a:t>Input + Rules → Output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16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if temperature &gt; 35:    </a:t>
            </a:r>
          </a:p>
          <a:p>
            <a:pPr marL="0" indent="0">
              <a:buNone/>
            </a:pPr>
            <a:r>
              <a:rPr lang="en-US" dirty="0" smtClean="0"/>
              <a:t>	print("Hot")</a:t>
            </a:r>
          </a:p>
          <a:p>
            <a:pPr marL="0" indent="0">
              <a:buNone/>
            </a:pPr>
            <a:r>
              <a:rPr lang="en-US" dirty="0" smtClean="0"/>
              <a:t>else:    </a:t>
            </a:r>
          </a:p>
          <a:p>
            <a:pPr marL="0" indent="0">
              <a:buNone/>
            </a:pPr>
            <a:r>
              <a:rPr lang="en-US" dirty="0" smtClean="0"/>
              <a:t>	print("Not Hot")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37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Machine Learning Approach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Input + Historical Data → Learning Algorithm → Model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model learns patterns automatically.</a:t>
            </a:r>
          </a:p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Input: </a:t>
            </a:r>
            <a:r>
              <a:rPr lang="en-US" dirty="0" smtClean="0"/>
              <a:t>House size, bedrooms, location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Output: </a:t>
            </a:r>
            <a:r>
              <a:rPr lang="en-US" dirty="0" smtClean="0"/>
              <a:t>House price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algorithm learns the relationship between inputs and outputs from past examples.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65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Hard-Coded Rules </a:t>
            </a:r>
            <a:r>
              <a:rPr lang="en-US" dirty="0" err="1" smtClean="0"/>
              <a:t>vs</a:t>
            </a:r>
            <a:r>
              <a:rPr lang="en-US" dirty="0" smtClean="0"/>
              <a:t> Machine Learning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988272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Hard-Coded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Machine Learning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Written by humans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Learned from data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Data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Large datasets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Suitable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Simple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Complex patterns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7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 The Machine Learning Development Pipeline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Step 1: Collect Data</a:t>
            </a:r>
          </a:p>
          <a:p>
            <a:pPr marL="0" indent="0">
              <a:buNone/>
            </a:pPr>
            <a:r>
              <a:rPr lang="en-US" dirty="0" smtClean="0"/>
              <a:t>Example dataset: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67173"/>
              </p:ext>
            </p:extLst>
          </p:nvPr>
        </p:nvGraphicFramePr>
        <p:xfrm>
          <a:off x="1331640" y="3140968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Hours Studied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8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 / Test / Split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Step 2: Split Data</a:t>
            </a:r>
          </a:p>
          <a:p>
            <a:r>
              <a:rPr lang="en-US" dirty="0" smtClean="0"/>
              <a:t>Data is divided into:</a:t>
            </a:r>
          </a:p>
          <a:p>
            <a:r>
              <a:rPr lang="en-US" b="1" dirty="0" smtClean="0"/>
              <a:t>Training Dataset</a:t>
            </a:r>
          </a:p>
          <a:p>
            <a:r>
              <a:rPr lang="en-US" dirty="0" smtClean="0"/>
              <a:t>Used to teach the model.</a:t>
            </a:r>
          </a:p>
          <a:p>
            <a:r>
              <a:rPr lang="en-US" dirty="0" smtClean="0"/>
              <a:t>Typically:</a:t>
            </a:r>
          </a:p>
          <a:p>
            <a:r>
              <a:rPr lang="en-US" dirty="0" smtClean="0"/>
              <a:t>70% </a:t>
            </a:r>
          </a:p>
          <a:p>
            <a:r>
              <a:rPr lang="en-US" dirty="0" smtClean="0"/>
              <a:t>80% </a:t>
            </a:r>
          </a:p>
          <a:p>
            <a:r>
              <a:rPr lang="en-US" dirty="0" smtClean="0"/>
              <a:t>90% </a:t>
            </a:r>
          </a:p>
          <a:p>
            <a:r>
              <a:rPr lang="en-US" b="1" dirty="0" smtClean="0"/>
              <a:t>Testing Dataset</a:t>
            </a:r>
          </a:p>
          <a:p>
            <a:r>
              <a:rPr lang="en-US" dirty="0" smtClean="0"/>
              <a:t>Used to evaluate model performance.</a:t>
            </a:r>
          </a:p>
          <a:p>
            <a:r>
              <a:rPr lang="en-US" dirty="0" smtClean="0"/>
              <a:t>Typically:</a:t>
            </a:r>
          </a:p>
          <a:p>
            <a:r>
              <a:rPr lang="en-US" dirty="0" smtClean="0"/>
              <a:t>20% </a:t>
            </a:r>
          </a:p>
          <a:p>
            <a:r>
              <a:rPr lang="en-US" dirty="0" smtClean="0"/>
              <a:t>30% </a:t>
            </a:r>
          </a:p>
          <a:p>
            <a:r>
              <a:rPr lang="en-US" dirty="0" smtClean="0"/>
              <a:t>Example: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63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Ratio of splitting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638404"/>
              </p:ext>
            </p:extLst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Percentage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80%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7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Why Split Data?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a model is tested on the same data it learned from, it may simply memorize the answers.</a:t>
            </a:r>
          </a:p>
          <a:p>
            <a:r>
              <a:rPr lang="en-US" dirty="0" smtClean="0"/>
              <a:t>Testing data helps verify whether the model can make accurate predictions on unseen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83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 Pipeline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 smtClean="0"/>
              <a:t>Collect Data      </a:t>
            </a:r>
          </a:p>
          <a:p>
            <a:pPr marL="0" indent="0" algn="ctr">
              <a:buNone/>
            </a:pPr>
            <a:r>
              <a:rPr lang="en-IN" dirty="0" smtClean="0"/>
              <a:t>↓</a:t>
            </a:r>
          </a:p>
          <a:p>
            <a:pPr marL="0" indent="0" algn="ctr">
              <a:buNone/>
            </a:pPr>
            <a:r>
              <a:rPr lang="en-IN" dirty="0" smtClean="0"/>
              <a:t>Clean Data      </a:t>
            </a:r>
          </a:p>
          <a:p>
            <a:pPr marL="0" indent="0" algn="ctr">
              <a:buNone/>
            </a:pPr>
            <a:r>
              <a:rPr lang="en-IN" dirty="0" smtClean="0"/>
              <a:t>↓</a:t>
            </a:r>
          </a:p>
          <a:p>
            <a:pPr marL="0" indent="0" algn="ctr">
              <a:buNone/>
            </a:pPr>
            <a:r>
              <a:rPr lang="en-IN" dirty="0" smtClean="0"/>
              <a:t>Split Data(Train/Test)      </a:t>
            </a:r>
          </a:p>
          <a:p>
            <a:pPr marL="0" indent="0" algn="ctr">
              <a:buNone/>
            </a:pPr>
            <a:r>
              <a:rPr lang="en-IN" dirty="0" smtClean="0"/>
              <a:t>↓</a:t>
            </a:r>
          </a:p>
          <a:p>
            <a:pPr marL="0" indent="0" algn="ctr">
              <a:buNone/>
            </a:pPr>
            <a:r>
              <a:rPr lang="en-IN" dirty="0" smtClean="0"/>
              <a:t>Train Model      </a:t>
            </a:r>
          </a:p>
          <a:p>
            <a:pPr marL="0" indent="0" algn="ctr">
              <a:buNone/>
            </a:pPr>
            <a:r>
              <a:rPr lang="en-IN" dirty="0" smtClean="0"/>
              <a:t>↓</a:t>
            </a:r>
          </a:p>
          <a:p>
            <a:pPr marL="0" indent="0" algn="ctr">
              <a:buNone/>
            </a:pPr>
            <a:r>
              <a:rPr lang="en-IN" dirty="0" smtClean="0"/>
              <a:t>Make Predictions      </a:t>
            </a:r>
          </a:p>
          <a:p>
            <a:pPr marL="0" indent="0" algn="ctr">
              <a:buNone/>
            </a:pPr>
            <a:r>
              <a:rPr lang="en-IN" dirty="0" smtClean="0"/>
              <a:t>↓</a:t>
            </a:r>
          </a:p>
          <a:p>
            <a:pPr marL="0" indent="0" algn="ctr">
              <a:buNone/>
            </a:pPr>
            <a:r>
              <a:rPr lang="en-IN" dirty="0" smtClean="0"/>
              <a:t>Evaluate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296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 Continuous Predictions Using Linear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Linear Regression is one of the simplest supervised learning algorithms.</a:t>
            </a:r>
          </a:p>
          <a:p>
            <a:pPr marL="0" indent="0">
              <a:buNone/>
            </a:pPr>
            <a:r>
              <a:rPr lang="en-US" dirty="0" smtClean="0"/>
              <a:t>It predicts continuous numerical values.</a:t>
            </a:r>
          </a:p>
          <a:p>
            <a:pPr marL="0" indent="0">
              <a:buNone/>
            </a:pPr>
            <a:r>
              <a:rPr lang="en-US" dirty="0" smtClean="0"/>
              <a:t>Examples:</a:t>
            </a:r>
          </a:p>
          <a:p>
            <a:r>
              <a:rPr lang="en-US" dirty="0" smtClean="0"/>
              <a:t>House prices </a:t>
            </a:r>
          </a:p>
          <a:p>
            <a:r>
              <a:rPr lang="en-US" dirty="0" smtClean="0"/>
              <a:t>Salary prediction </a:t>
            </a:r>
          </a:p>
          <a:p>
            <a:r>
              <a:rPr lang="en-US" dirty="0" smtClean="0"/>
              <a:t>Stock trends </a:t>
            </a:r>
          </a:p>
          <a:p>
            <a:r>
              <a:rPr lang="en-US" dirty="0" smtClean="0"/>
              <a:t>Temperature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747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Understanding Linear Regression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Suppose we have data: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738932"/>
              </p:ext>
            </p:extLst>
          </p:nvPr>
        </p:nvGraphicFramePr>
        <p:xfrm>
          <a:off x="1475656" y="2492896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Experience (Years)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Salary (₹ Lakhs)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formulae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Y = mx + b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Where:</a:t>
            </a:r>
          </a:p>
          <a:p>
            <a:r>
              <a:rPr lang="en-US" b="1" dirty="0" smtClean="0"/>
              <a:t>y</a:t>
            </a:r>
            <a:r>
              <a:rPr lang="en-US" dirty="0" smtClean="0"/>
              <a:t> = Predicted value </a:t>
            </a:r>
          </a:p>
          <a:p>
            <a:r>
              <a:rPr lang="en-US" b="1" dirty="0" smtClean="0"/>
              <a:t>x</a:t>
            </a:r>
            <a:r>
              <a:rPr lang="en-US" dirty="0" smtClean="0"/>
              <a:t> = Input feature </a:t>
            </a:r>
          </a:p>
          <a:p>
            <a:r>
              <a:rPr lang="en-US" b="1" dirty="0" smtClean="0"/>
              <a:t>m</a:t>
            </a:r>
            <a:r>
              <a:rPr lang="en-US" dirty="0" smtClean="0"/>
              <a:t> = Slope of line </a:t>
            </a:r>
          </a:p>
          <a:p>
            <a:r>
              <a:rPr lang="en-US" b="1" dirty="0" smtClean="0"/>
              <a:t>b</a:t>
            </a:r>
            <a:r>
              <a:rPr lang="en-US" dirty="0" smtClean="0"/>
              <a:t> = Intercept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08803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Regression code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596503"/>
            <a:ext cx="4464495" cy="453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45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Accuracy Score</a:t>
            </a:r>
          </a:p>
          <a:p>
            <a:r>
              <a:rPr lang="en-US" dirty="0" smtClean="0"/>
              <a:t>Used mainly for classification problems.</a:t>
            </a:r>
          </a:p>
          <a:p>
            <a:r>
              <a:rPr lang="en-US" dirty="0" smtClean="0"/>
              <a:t>Formula:</a:t>
            </a:r>
          </a:p>
          <a:p>
            <a:pPr marL="0" indent="0">
              <a:buNone/>
            </a:pPr>
            <a:r>
              <a:rPr lang="en-US" dirty="0" smtClean="0"/>
              <a:t>Accuracy =</a:t>
            </a:r>
            <a:br>
              <a:rPr lang="en-US" dirty="0" smtClean="0"/>
            </a:br>
            <a:r>
              <a:rPr lang="en-US" dirty="0" smtClean="0"/>
              <a:t>Correct Predictions</a:t>
            </a:r>
            <a:br>
              <a:rPr lang="en-US" dirty="0" smtClean="0"/>
            </a:br>
            <a:r>
              <a:rPr lang="en-US" dirty="0" smtClean="0"/>
              <a:t>--------------------</a:t>
            </a:r>
            <a:br>
              <a:rPr lang="en-US" dirty="0" smtClean="0"/>
            </a:br>
            <a:r>
              <a:rPr lang="en-US" dirty="0" smtClean="0"/>
              <a:t>Total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628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values in dataset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130693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Fail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76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Correct Predictions = 3</a:t>
            </a:r>
          </a:p>
          <a:p>
            <a:pPr marL="0" indent="0">
              <a:buNone/>
            </a:pPr>
            <a:r>
              <a:rPr lang="en-US" dirty="0" smtClean="0"/>
              <a:t>Total Predictions = 4</a:t>
            </a:r>
          </a:p>
          <a:p>
            <a:pPr marL="0" indent="0">
              <a:buNone/>
            </a:pPr>
            <a:r>
              <a:rPr lang="en-US" dirty="0" smtClean="0"/>
              <a:t>Accuracy: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3/4 = 0.75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Accuracy = 75%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97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Error Margin</a:t>
            </a:r>
          </a:p>
          <a:p>
            <a:r>
              <a:rPr lang="en-IN" dirty="0" smtClean="0"/>
              <a:t>For regression problems we measure prediction errors.</a:t>
            </a:r>
          </a:p>
          <a:p>
            <a:pPr marL="0" indent="0">
              <a:buNone/>
            </a:pPr>
            <a:r>
              <a:rPr lang="en-IN" b="1" dirty="0" smtClean="0"/>
              <a:t>Mean Absolute Error (MAE)</a:t>
            </a:r>
          </a:p>
          <a:p>
            <a:r>
              <a:rPr lang="en-IN" dirty="0" smtClean="0"/>
              <a:t>Average absolute difference between actual and predicted values.</a:t>
            </a:r>
          </a:p>
          <a:p>
            <a:r>
              <a:rPr lang="en-IN" dirty="0" smtClean="0"/>
              <a:t>MAE=∑∣Actual−Predicted∣ / 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522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428287"/>
              </p:ext>
            </p:extLst>
          </p:nvPr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729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Errors:</a:t>
            </a:r>
          </a:p>
          <a:p>
            <a:r>
              <a:rPr lang="en-US" dirty="0" smtClean="0"/>
              <a:t>5, 10, 10</a:t>
            </a:r>
          </a:p>
          <a:p>
            <a:pPr marL="0" indent="0">
              <a:buNone/>
            </a:pPr>
            <a:r>
              <a:rPr lang="en-US" dirty="0" smtClean="0"/>
              <a:t>MAE:</a:t>
            </a:r>
          </a:p>
          <a:p>
            <a:pPr marL="0" indent="0">
              <a:buNone/>
            </a:pPr>
            <a:r>
              <a:rPr lang="en-US" dirty="0" smtClean="0"/>
              <a:t>(5 + 10 + 10)/3 = 8.33</a:t>
            </a:r>
          </a:p>
          <a:p>
            <a:r>
              <a:rPr lang="en-US" dirty="0" smtClean="0"/>
              <a:t>Lower MAE = Better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996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072128"/>
            <a:ext cx="4104455" cy="5681788"/>
          </a:xfrm>
        </p:spPr>
      </p:pic>
    </p:spTree>
    <p:extLst>
      <p:ext uri="{BB962C8B-B14F-4D97-AF65-F5344CB8AC3E}">
        <p14:creationId xmlns:p14="http://schemas.microsoft.com/office/powerpoint/2010/main" val="2675741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565</Words>
  <Application>Microsoft Office PowerPoint</Application>
  <PresentationFormat>On-screen Show (4:3)</PresentationFormat>
  <Paragraphs>182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BOOTCAMP</vt:lpstr>
      <vt:lpstr>Day 5: Core Concepts of Artificial Intelligence &amp; Machine Learning</vt:lpstr>
      <vt:lpstr>2. What is Machine Learning (ML)? </vt:lpstr>
      <vt:lpstr>PowerPoint Presentation</vt:lpstr>
      <vt:lpstr>Machine Learning Approach</vt:lpstr>
      <vt:lpstr>Hard-Coded Rules vs Machine Learning</vt:lpstr>
      <vt:lpstr>3. The Machine Learning Development Pipeline</vt:lpstr>
      <vt:lpstr>Train / Test / Split</vt:lpstr>
      <vt:lpstr>Ratio of splitting</vt:lpstr>
      <vt:lpstr>Why Split Data?</vt:lpstr>
      <vt:lpstr>ML Pipeline</vt:lpstr>
      <vt:lpstr>4. Continuous Predictions Using Linear Regression</vt:lpstr>
      <vt:lpstr>Understanding Linear Regression </vt:lpstr>
      <vt:lpstr>formulae</vt:lpstr>
      <vt:lpstr>Linear Regression code</vt:lpstr>
      <vt:lpstr>Metrics</vt:lpstr>
      <vt:lpstr>Sample values in dataset</vt:lpstr>
      <vt:lpstr>Calculations</vt:lpstr>
      <vt:lpstr>PowerPoint Presentation</vt:lpstr>
      <vt:lpstr>Cal</vt:lpstr>
      <vt:lpstr>Cal</vt:lpstr>
      <vt:lpstr>Metrics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8</cp:revision>
  <dcterms:created xsi:type="dcterms:W3CDTF">2026-06-15T10:46:49Z</dcterms:created>
  <dcterms:modified xsi:type="dcterms:W3CDTF">2026-06-15T11:06:11Z</dcterms:modified>
</cp:coreProperties>
</file>