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2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1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5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8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9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2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31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70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6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9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B743D-9B9D-4212-8AC8-68855174714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47511-F067-4085-867E-486856CD7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9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ingacharya/assignment6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02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6: Automated Data Classification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1. Categorical Decisions (Classification)</a:t>
            </a:r>
          </a:p>
          <a:p>
            <a:pPr marL="0" indent="0">
              <a:buNone/>
            </a:pPr>
            <a:r>
              <a:rPr lang="en-US" b="1" dirty="0" smtClean="0"/>
              <a:t>What is Classification?</a:t>
            </a:r>
          </a:p>
          <a:p>
            <a:pPr marL="0" indent="0">
              <a:buNone/>
            </a:pPr>
            <a:r>
              <a:rPr lang="en-US" dirty="0" smtClean="0"/>
              <a:t>	Classification is a supervised machine learning technique used to 	predict a category or class label for new data based on historical 	examples.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Examples</a:t>
            </a:r>
          </a:p>
          <a:p>
            <a:r>
              <a:rPr lang="en-US" dirty="0" smtClean="0"/>
              <a:t>Email → Spam or Not Spam </a:t>
            </a:r>
          </a:p>
          <a:p>
            <a:r>
              <a:rPr lang="en-US" dirty="0" smtClean="0"/>
              <a:t>Loan Application → Approved or Rejected </a:t>
            </a:r>
          </a:p>
          <a:p>
            <a:r>
              <a:rPr lang="en-US" dirty="0" smtClean="0"/>
              <a:t>Medical Report → Disease Present or Disease Absent </a:t>
            </a:r>
          </a:p>
          <a:p>
            <a:r>
              <a:rPr lang="en-US" dirty="0" smtClean="0"/>
              <a:t>Customer → Likely to Buy or Not Buy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How Classification Works</a:t>
            </a:r>
          </a:p>
          <a:p>
            <a:r>
              <a:rPr lang="en-US" dirty="0" smtClean="0"/>
              <a:t>Collect labeled data. </a:t>
            </a:r>
          </a:p>
          <a:p>
            <a:r>
              <a:rPr lang="en-US" dirty="0" smtClean="0"/>
              <a:t>Train a machine learning model. </a:t>
            </a:r>
          </a:p>
          <a:p>
            <a:r>
              <a:rPr lang="en-US" dirty="0" smtClean="0"/>
              <a:t>Learn patterns from features. </a:t>
            </a:r>
          </a:p>
          <a:p>
            <a:r>
              <a:rPr lang="en-US" dirty="0" smtClean="0"/>
              <a:t>Predict the class of new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24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Dataset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944883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Purchased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27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and Target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Input Features:</a:t>
            </a:r>
          </a:p>
          <a:p>
            <a:r>
              <a:rPr lang="en-US" dirty="0" smtClean="0"/>
              <a:t>Age </a:t>
            </a:r>
          </a:p>
          <a:p>
            <a:r>
              <a:rPr lang="en-US" dirty="0" smtClean="0"/>
              <a:t>Income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Target Variable:</a:t>
            </a:r>
          </a:p>
          <a:p>
            <a:r>
              <a:rPr lang="en-US" dirty="0" smtClean="0"/>
              <a:t>Purchased (Yes/No)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80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Common Classification Algorithms</a:t>
            </a:r>
          </a:p>
          <a:p>
            <a:r>
              <a:rPr lang="en-IN" dirty="0" smtClean="0"/>
              <a:t>Decision Tree </a:t>
            </a:r>
          </a:p>
          <a:p>
            <a:r>
              <a:rPr lang="en-IN" dirty="0" smtClean="0"/>
              <a:t>Random Forest </a:t>
            </a:r>
          </a:p>
          <a:p>
            <a:r>
              <a:rPr lang="en-IN" dirty="0" smtClean="0"/>
              <a:t>Logistic Regression </a:t>
            </a:r>
          </a:p>
          <a:p>
            <a:r>
              <a:rPr lang="en-IN" dirty="0" smtClean="0"/>
              <a:t>Support Vector Machine (SVM) </a:t>
            </a:r>
          </a:p>
          <a:p>
            <a:r>
              <a:rPr lang="en-IN" dirty="0" smtClean="0"/>
              <a:t>K-Nearest </a:t>
            </a:r>
            <a:r>
              <a:rPr lang="en-IN" dirty="0" err="1" smtClean="0"/>
              <a:t>Neighbors</a:t>
            </a:r>
            <a:r>
              <a:rPr lang="en-IN" dirty="0" smtClean="0"/>
              <a:t> (KNN) </a:t>
            </a:r>
          </a:p>
          <a:p>
            <a:r>
              <a:rPr lang="en-IN" dirty="0" smtClean="0"/>
              <a:t>Naive Bayes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5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Decision Tree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What is a Decision Tree?</a:t>
            </a:r>
          </a:p>
          <a:p>
            <a:pPr marL="0" indent="0">
              <a:buNone/>
            </a:pPr>
            <a:r>
              <a:rPr lang="en-US" dirty="0" smtClean="0"/>
              <a:t>	A Decision Tree is a machine learning 	model that makes decisions by repeatedly 	splitting data into smaller groups based on 	feature values.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Components</a:t>
            </a:r>
          </a:p>
          <a:p>
            <a:pPr marL="0" indent="0">
              <a:buNone/>
            </a:pPr>
            <a:r>
              <a:rPr lang="en-US" b="1" dirty="0" smtClean="0"/>
              <a:t>Root Node</a:t>
            </a:r>
          </a:p>
          <a:p>
            <a:r>
              <a:rPr lang="en-US" dirty="0" smtClean="0"/>
              <a:t>Starting point of the tree.</a:t>
            </a:r>
          </a:p>
          <a:p>
            <a:pPr marL="0" indent="0">
              <a:buNone/>
            </a:pPr>
            <a:r>
              <a:rPr lang="en-US" b="1" dirty="0" smtClean="0"/>
              <a:t>Decision Node</a:t>
            </a:r>
          </a:p>
          <a:p>
            <a:r>
              <a:rPr lang="en-US" dirty="0" smtClean="0"/>
              <a:t>Contains conditions used for splitting.</a:t>
            </a:r>
          </a:p>
          <a:p>
            <a:pPr marL="0" indent="0">
              <a:buNone/>
            </a:pPr>
            <a:r>
              <a:rPr lang="en-US" b="1" dirty="0" smtClean="0"/>
              <a:t>Leaf Node</a:t>
            </a:r>
          </a:p>
          <a:p>
            <a:r>
              <a:rPr lang="en-US" dirty="0" smtClean="0"/>
              <a:t>Final prediction/class.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05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Predict whether a customer will purchase a product.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899337"/>
              </p:ext>
            </p:extLst>
          </p:nvPr>
        </p:nvGraphicFramePr>
        <p:xfrm>
          <a:off x="1475656" y="335699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Purchase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291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Advantages</a:t>
            </a:r>
          </a:p>
          <a:p>
            <a:r>
              <a:rPr lang="en-IN" dirty="0" smtClean="0"/>
              <a:t>✅ Easy to understand</a:t>
            </a:r>
          </a:p>
          <a:p>
            <a:r>
              <a:rPr lang="en-IN" dirty="0" smtClean="0"/>
              <a:t>✅ Visual interpretation</a:t>
            </a:r>
          </a:p>
          <a:p>
            <a:r>
              <a:rPr lang="en-IN" dirty="0" smtClean="0"/>
              <a:t>✅ Handles numerical and categorical data</a:t>
            </a:r>
          </a:p>
          <a:p>
            <a:r>
              <a:rPr lang="en-IN" dirty="0" smtClean="0"/>
              <a:t>✅ Requires little data </a:t>
            </a:r>
            <a:r>
              <a:rPr lang="en-IN" dirty="0" err="1" smtClean="0"/>
              <a:t>preprocessing</a:t>
            </a:r>
            <a:endParaRPr lang="en-IN" dirty="0" smtClean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Disadvantages</a:t>
            </a:r>
          </a:p>
          <a:p>
            <a:r>
              <a:rPr lang="en-IN" dirty="0" smtClean="0"/>
              <a:t>❌ Can </a:t>
            </a:r>
            <a:r>
              <a:rPr lang="en-IN" dirty="0" err="1" smtClean="0"/>
              <a:t>overfit</a:t>
            </a:r>
            <a:r>
              <a:rPr lang="en-IN" dirty="0" smtClean="0"/>
              <a:t> training data</a:t>
            </a:r>
          </a:p>
          <a:p>
            <a:r>
              <a:rPr lang="en-IN" dirty="0" smtClean="0"/>
              <a:t>❌ Sensitive to small changes</a:t>
            </a:r>
          </a:p>
          <a:p>
            <a:r>
              <a:rPr lang="en-IN" dirty="0" smtClean="0"/>
              <a:t>❌ May become complex with large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99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434" y="1268760"/>
            <a:ext cx="4950853" cy="5445938"/>
          </a:xfrm>
        </p:spPr>
      </p:pic>
    </p:spTree>
    <p:extLst>
      <p:ext uri="{BB962C8B-B14F-4D97-AF65-F5344CB8AC3E}">
        <p14:creationId xmlns:p14="http://schemas.microsoft.com/office/powerpoint/2010/main" val="100082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3. Evaluating Categorical Accuracy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Confusion Matrix</a:t>
            </a:r>
          </a:p>
          <a:p>
            <a:pPr marL="0" indent="0">
              <a:buNone/>
            </a:pPr>
            <a:r>
              <a:rPr lang="en-US" dirty="0" smtClean="0"/>
              <a:t>	A Confusion Matrix measures classification 	performance by comparing actual and 	predicted classes.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Binary Classification Example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69704"/>
              </p:ext>
            </p:extLst>
          </p:nvPr>
        </p:nvGraphicFramePr>
        <p:xfrm>
          <a:off x="1547664" y="5085184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 Negative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 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24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Where:</a:t>
            </a:r>
          </a:p>
          <a:p>
            <a:r>
              <a:rPr lang="en-IN" dirty="0" smtClean="0"/>
              <a:t>TP = True Positive </a:t>
            </a:r>
          </a:p>
          <a:p>
            <a:r>
              <a:rPr lang="en-IN" dirty="0" smtClean="0"/>
              <a:t>TN = True Negative </a:t>
            </a:r>
          </a:p>
          <a:p>
            <a:r>
              <a:rPr lang="en-IN" dirty="0" smtClean="0"/>
              <a:t>FP = False Positive </a:t>
            </a:r>
          </a:p>
          <a:p>
            <a:r>
              <a:rPr lang="en-IN" dirty="0" smtClean="0"/>
              <a:t>FN = False Negative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172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Matrix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637273"/>
              </p:ext>
            </p:extLst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 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314096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Interpretation:</a:t>
            </a:r>
          </a:p>
          <a:p>
            <a:r>
              <a:rPr lang="en-US" dirty="0" smtClean="0"/>
              <a:t>50 correctly predicted Yes </a:t>
            </a:r>
          </a:p>
          <a:p>
            <a:r>
              <a:rPr lang="en-US" dirty="0" smtClean="0"/>
              <a:t>35 correctly predicted No </a:t>
            </a:r>
          </a:p>
          <a:p>
            <a:r>
              <a:rPr lang="en-US" dirty="0" smtClean="0"/>
              <a:t>10 missed positives </a:t>
            </a:r>
          </a:p>
          <a:p>
            <a:r>
              <a:rPr lang="en-US" dirty="0" smtClean="0"/>
              <a:t>5 false alarms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5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TP = 50</a:t>
            </a:r>
          </a:p>
          <a:p>
            <a:r>
              <a:rPr lang="en-US" dirty="0" smtClean="0"/>
              <a:t>TN = 35</a:t>
            </a:r>
          </a:p>
          <a:p>
            <a:r>
              <a:rPr lang="en-US" dirty="0" smtClean="0"/>
              <a:t>FP = 5</a:t>
            </a:r>
          </a:p>
          <a:p>
            <a:r>
              <a:rPr lang="en-US" dirty="0" smtClean="0"/>
              <a:t>FN = 10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018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METRICS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637615"/>
            <a:ext cx="3600399" cy="6203013"/>
          </a:xfrm>
        </p:spPr>
      </p:pic>
    </p:spTree>
    <p:extLst>
      <p:ext uri="{BB962C8B-B14F-4D97-AF65-F5344CB8AC3E}">
        <p14:creationId xmlns:p14="http://schemas.microsoft.com/office/powerpoint/2010/main" val="113771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Confusion matrix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28" y="2132856"/>
            <a:ext cx="7204164" cy="3391274"/>
          </a:xfrm>
        </p:spPr>
      </p:pic>
    </p:spTree>
    <p:extLst>
      <p:ext uri="{BB962C8B-B14F-4D97-AF65-F5344CB8AC3E}">
        <p14:creationId xmlns:p14="http://schemas.microsoft.com/office/powerpoint/2010/main" val="91222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4. Feature Relevance Analysis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What is Feature Importance?</a:t>
            </a:r>
          </a:p>
          <a:p>
            <a:pPr marL="0" indent="0">
              <a:buNone/>
            </a:pPr>
            <a:r>
              <a:rPr lang="en-US" dirty="0" smtClean="0"/>
              <a:t>	Feature Importance identifies which 	variables contribute most to model 	predictions.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 Dataset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57811"/>
              </p:ext>
            </p:extLst>
          </p:nvPr>
        </p:nvGraphicFramePr>
        <p:xfrm>
          <a:off x="1691680" y="450912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Importance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0.45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0.30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0.15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118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Interpretation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Income influences predictions the most. </a:t>
            </a:r>
          </a:p>
          <a:p>
            <a:r>
              <a:rPr lang="en-US" dirty="0" smtClean="0"/>
              <a:t>Gender contributes the least.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Why Feature Importance Matters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Better Understanding</a:t>
            </a:r>
          </a:p>
          <a:p>
            <a:r>
              <a:rPr lang="en-US" dirty="0" smtClean="0"/>
              <a:t>Shows what drives predictions.</a:t>
            </a:r>
          </a:p>
          <a:p>
            <a:pPr marL="0" indent="0">
              <a:buNone/>
            </a:pPr>
            <a:r>
              <a:rPr lang="en-US" b="1" dirty="0" smtClean="0"/>
              <a:t>Reduce Complexity</a:t>
            </a:r>
          </a:p>
          <a:p>
            <a:r>
              <a:rPr lang="en-US" dirty="0" smtClean="0"/>
              <a:t>Remove unimportant features.</a:t>
            </a:r>
          </a:p>
          <a:p>
            <a:pPr marL="0" indent="0">
              <a:buNone/>
            </a:pPr>
            <a:r>
              <a:rPr lang="en-US" b="1" dirty="0" smtClean="0"/>
              <a:t>Faster Models</a:t>
            </a:r>
          </a:p>
          <a:p>
            <a:r>
              <a:rPr lang="en-US" dirty="0" smtClean="0"/>
              <a:t>Less computation and training time.</a:t>
            </a:r>
          </a:p>
          <a:p>
            <a:pPr marL="0" indent="0">
              <a:buNone/>
            </a:pPr>
            <a:r>
              <a:rPr lang="en-US" b="1" dirty="0" smtClean="0"/>
              <a:t>Improved Accuracy</a:t>
            </a:r>
          </a:p>
          <a:p>
            <a:r>
              <a:rPr lang="en-US" dirty="0" smtClean="0"/>
              <a:t>Reduce noise from irrelevant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974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importance usage in 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820" y="1340768"/>
            <a:ext cx="4574980" cy="5112568"/>
          </a:xfrm>
        </p:spPr>
      </p:pic>
    </p:spTree>
    <p:extLst>
      <p:ext uri="{BB962C8B-B14F-4D97-AF65-F5344CB8AC3E}">
        <p14:creationId xmlns:p14="http://schemas.microsoft.com/office/powerpoint/2010/main" val="774919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00" y="692696"/>
            <a:ext cx="6087812" cy="5885447"/>
          </a:xfrm>
        </p:spPr>
      </p:pic>
    </p:spTree>
    <p:extLst>
      <p:ext uri="{BB962C8B-B14F-4D97-AF65-F5344CB8AC3E}">
        <p14:creationId xmlns:p14="http://schemas.microsoft.com/office/powerpoint/2010/main" val="410546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Assignment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Assignment: Automated Customer Loan Eligibility Approval Predictor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Objective</a:t>
            </a:r>
          </a:p>
          <a:p>
            <a:pPr marL="0" indent="0">
              <a:buNone/>
            </a:pPr>
            <a:r>
              <a:rPr lang="en-US" dirty="0" smtClean="0"/>
              <a:t>Develop a machine learning classification model that predicts whether a customer is eligible for a loan based on their demographic and financial information.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Problem Statement</a:t>
            </a:r>
          </a:p>
          <a:p>
            <a:r>
              <a:rPr lang="en-US" dirty="0" smtClean="0"/>
              <a:t>Financial institutions receive thousands of loan applications daily. Manually reviewing each application is time-consuming and prone to inconsistencies.</a:t>
            </a:r>
          </a:p>
          <a:p>
            <a:r>
              <a:rPr lang="en-US" dirty="0" smtClean="0"/>
              <a:t>Your task is to build an automated Loan Eligibility Approval Predictor that classifies applicants as:</a:t>
            </a:r>
          </a:p>
          <a:p>
            <a:r>
              <a:rPr lang="en-US" dirty="0" smtClean="0"/>
              <a:t>Eligible (Approved) </a:t>
            </a:r>
          </a:p>
          <a:p>
            <a:r>
              <a:rPr lang="en-US" dirty="0" smtClean="0"/>
              <a:t>Not Eligible (Rejected) </a:t>
            </a:r>
          </a:p>
          <a:p>
            <a:r>
              <a:rPr lang="en-US" dirty="0" smtClean="0"/>
              <a:t>using historical customer data.</a:t>
            </a:r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74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attributes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 smtClean="0"/>
              <a:t>Dataset Attributes</a:t>
            </a:r>
          </a:p>
          <a:p>
            <a:r>
              <a:rPr lang="en-US" sz="1600" dirty="0" smtClean="0"/>
              <a:t>Create or use a dataset with the following features: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2674"/>
              </p:ext>
            </p:extLst>
          </p:nvPr>
        </p:nvGraphicFramePr>
        <p:xfrm>
          <a:off x="1403648" y="1844824"/>
          <a:ext cx="6096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0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Male/Female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Applicant Age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Marital_Status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Married/Single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Graduate/Non-Graduate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Employment_Status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Employed/Self-Employed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Annual_Income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Yearly Income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Loan_Amount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Requested Loan Amount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Credit_Score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Credit Rating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Existing_Loan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Yes/No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Property_Area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Urban/Rural/Semiurban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000"/>
                        <a:t>Loan_Status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Approved/Rejected (Target)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648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git clone </a:t>
            </a:r>
            <a:r>
              <a:rPr lang="en-IN" dirty="0" smtClean="0">
                <a:hlinkClick r:id="rId2"/>
              </a:rPr>
              <a:t>https://github.com/codingacharya/assignment6.git</a:t>
            </a:r>
            <a:endParaRPr lang="en-IN" dirty="0" smtClean="0"/>
          </a:p>
          <a:p>
            <a:endParaRPr lang="en-US" dirty="0"/>
          </a:p>
          <a:p>
            <a:r>
              <a:rPr lang="en-US" dirty="0" smtClean="0"/>
              <a:t>Cd assignment6</a:t>
            </a:r>
          </a:p>
          <a:p>
            <a:endParaRPr lang="en-US" dirty="0"/>
          </a:p>
          <a:p>
            <a:r>
              <a:rPr lang="en-US" dirty="0" smtClean="0"/>
              <a:t>Pip install –r requirements.txt</a:t>
            </a:r>
          </a:p>
          <a:p>
            <a:endParaRPr lang="en-US" dirty="0"/>
          </a:p>
          <a:p>
            <a:r>
              <a:rPr lang="en-US" dirty="0" err="1" smtClean="0"/>
              <a:t>Streamlit</a:t>
            </a:r>
            <a:r>
              <a:rPr lang="en-US" dirty="0" smtClean="0"/>
              <a:t> run assignment61.py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1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466</Words>
  <Application>Microsoft Office PowerPoint</Application>
  <PresentationFormat>On-screen Show (4:3)</PresentationFormat>
  <Paragraphs>207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BOOTCAMP</vt:lpstr>
      <vt:lpstr>Day 6: Automated Data Classification Models</vt:lpstr>
      <vt:lpstr>Example Dataset</vt:lpstr>
      <vt:lpstr>Features and Target</vt:lpstr>
      <vt:lpstr>Classification algorithms</vt:lpstr>
      <vt:lpstr>2. Decision Tree Algorithms</vt:lpstr>
      <vt:lpstr>Example</vt:lpstr>
      <vt:lpstr>Decision Tree Algorithm</vt:lpstr>
      <vt:lpstr>Code</vt:lpstr>
      <vt:lpstr>3. Evaluating Categorical Accuracy </vt:lpstr>
      <vt:lpstr>Accuracy metrics</vt:lpstr>
      <vt:lpstr>Example Matrix</vt:lpstr>
      <vt:lpstr>Metrics</vt:lpstr>
      <vt:lpstr>METRICS</vt:lpstr>
      <vt:lpstr>Confusion matrix</vt:lpstr>
      <vt:lpstr>4. Feature Relevance Analysis </vt:lpstr>
      <vt:lpstr>Interpretation</vt:lpstr>
      <vt:lpstr>Feature importance usage in code</vt:lpstr>
      <vt:lpstr> </vt:lpstr>
      <vt:lpstr>Assignment</vt:lpstr>
      <vt:lpstr>Dataset attributes</vt:lpstr>
      <vt:lpstr>Git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8</cp:revision>
  <dcterms:created xsi:type="dcterms:W3CDTF">2026-06-16T04:57:37Z</dcterms:created>
  <dcterms:modified xsi:type="dcterms:W3CDTF">2026-06-16T06:23:28Z</dcterms:modified>
</cp:coreProperties>
</file>